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5"/>
  </p:notesMasterIdLst>
  <p:handoutMasterIdLst>
    <p:handoutMasterId r:id="rId16"/>
  </p:handoutMasterIdLst>
  <p:sldIdLst>
    <p:sldId id="265" r:id="rId2"/>
    <p:sldId id="324" r:id="rId3"/>
    <p:sldId id="327" r:id="rId4"/>
    <p:sldId id="328" r:id="rId5"/>
    <p:sldId id="330" r:id="rId6"/>
    <p:sldId id="331" r:id="rId7"/>
    <p:sldId id="329" r:id="rId8"/>
    <p:sldId id="333" r:id="rId9"/>
    <p:sldId id="335" r:id="rId10"/>
    <p:sldId id="334" r:id="rId11"/>
    <p:sldId id="336" r:id="rId12"/>
    <p:sldId id="337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1" autoAdjust="0"/>
    <p:restoredTop sz="94579" autoAdjust="0"/>
  </p:normalViewPr>
  <p:slideViewPr>
    <p:cSldViewPr snapToGrid="0" snapToObjects="1" showGuides="1">
      <p:cViewPr>
        <p:scale>
          <a:sx n="130" d="100"/>
          <a:sy n="130" d="100"/>
        </p:scale>
        <p:origin x="512" y="56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94286" y="2487561"/>
            <a:ext cx="6371888" cy="530941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ИТОГОВАЯ КВАЛИФИКАЦИОННАЯ РАБОТА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7133E-EE29-1E8A-FE2C-EA9F18F8BFDA}"/>
              </a:ext>
            </a:extLst>
          </p:cNvPr>
          <p:cNvSpPr txBox="1"/>
          <p:nvPr/>
        </p:nvSpPr>
        <p:spPr>
          <a:xfrm>
            <a:off x="0" y="81481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Министерство науки и высшего образования Российской Федерации</a:t>
            </a:r>
            <a:endParaRPr lang="en-RU" sz="1200" dirty="0">
              <a:solidFill>
                <a:schemeClr val="bg1"/>
              </a:solidFill>
            </a:endParaRPr>
          </a:p>
          <a:p>
            <a:pPr algn="ctr"/>
            <a:r>
              <a:rPr lang="ru-RU" sz="1200" b="1" cap="all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</a:t>
            </a:r>
            <a:endParaRPr lang="en-RU" sz="1200" dirty="0">
              <a:solidFill>
                <a:schemeClr val="bg1"/>
              </a:solidFill>
            </a:endParaRPr>
          </a:p>
          <a:p>
            <a:pPr algn="ctr"/>
            <a:r>
              <a:rPr lang="ru-RU" sz="1200" b="1" dirty="0">
                <a:solidFill>
                  <a:schemeClr val="bg1"/>
                </a:solidFill>
              </a:rPr>
              <a:t>“НАЦИОНАЛЬНЫЙ ИССЛЕДОВАТЕЛЬСКИЙ УНИВЕРСИТЕТ ИТМО”</a:t>
            </a:r>
            <a:br>
              <a:rPr lang="ru-RU" sz="1200" b="1" dirty="0">
                <a:solidFill>
                  <a:schemeClr val="bg1"/>
                </a:solidFill>
              </a:rPr>
            </a:br>
            <a:r>
              <a:rPr lang="ru-RU" sz="1200" b="1" dirty="0">
                <a:solidFill>
                  <a:schemeClr val="bg1"/>
                </a:solidFill>
              </a:rPr>
              <a:t>(УНИВЕРСИТЕТ ИТМО)</a:t>
            </a:r>
            <a:endParaRPr lang="en-RU" sz="1200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 </a:t>
            </a:r>
            <a:endParaRPr lang="en-RU" sz="1200" dirty="0">
              <a:solidFill>
                <a:schemeClr val="bg1"/>
              </a:solidFill>
            </a:endParaRPr>
          </a:p>
          <a:p>
            <a:pPr algn="ctr"/>
            <a:r>
              <a:rPr lang="ru-RU" sz="1200" b="1" dirty="0">
                <a:solidFill>
                  <a:schemeClr val="bg1"/>
                </a:solidFill>
              </a:rPr>
              <a:t>ЦЕНТР АВТОРИЗОВАННОГО ОБУЧЕНИЯ ИНФОРМАЦИОННЫМ ТЕХНОЛОГИЯМ</a:t>
            </a:r>
          </a:p>
          <a:p>
            <a:endParaRPr lang="en-RU" sz="1200" dirty="0">
              <a:solidFill>
                <a:schemeClr val="bg1"/>
              </a:solidFill>
            </a:endParaRPr>
          </a:p>
          <a:p>
            <a:endParaRPr lang="en-RU" sz="1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85682-000D-C7D9-60B7-0DFC52A5002F}"/>
              </a:ext>
            </a:extLst>
          </p:cNvPr>
          <p:cNvSpPr txBox="1"/>
          <p:nvPr/>
        </p:nvSpPr>
        <p:spPr>
          <a:xfrm>
            <a:off x="81480" y="4713135"/>
            <a:ext cx="469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Бурмистров Михаил Михайлович </a:t>
            </a:r>
            <a:r>
              <a:rPr lang="ru-RU" dirty="0" err="1">
                <a:solidFill>
                  <a:schemeClr val="bg1"/>
                </a:solidFill>
              </a:rPr>
              <a:t>гр</a:t>
            </a:r>
            <a:r>
              <a:rPr lang="ru-RU" dirty="0">
                <a:solidFill>
                  <a:schemeClr val="bg1"/>
                </a:solidFill>
              </a:rPr>
              <a:t> 124</a:t>
            </a:r>
            <a:r>
              <a:rPr lang="en-US" dirty="0">
                <a:solidFill>
                  <a:schemeClr val="bg1"/>
                </a:solidFill>
              </a:rPr>
              <a:t>/08</a:t>
            </a:r>
            <a:endParaRPr lang="en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731F0-56F9-1067-7CC5-C37CD2A8037C}"/>
              </a:ext>
            </a:extLst>
          </p:cNvPr>
          <p:cNvSpPr txBox="1"/>
          <p:nvPr/>
        </p:nvSpPr>
        <p:spPr>
          <a:xfrm>
            <a:off x="4445250" y="4692687"/>
            <a:ext cx="469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Руководители: Андрущенко М.И, Прыгун В. В.</a:t>
            </a:r>
            <a:endParaRPr lang="en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141D6-FAE3-4911-F815-44D23D5E5EA8}"/>
              </a:ext>
            </a:extLst>
          </p:cNvPr>
          <p:cNvSpPr txBox="1"/>
          <p:nvPr/>
        </p:nvSpPr>
        <p:spPr>
          <a:xfrm>
            <a:off x="1" y="301850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Автоматизация сборки и распространения приложения в </a:t>
            </a:r>
            <a:r>
              <a:rPr lang="en-US" b="1" dirty="0">
                <a:solidFill>
                  <a:schemeClr val="bg1"/>
                </a:solidFill>
              </a:rPr>
              <a:t>Docker</a:t>
            </a:r>
            <a:r>
              <a:rPr lang="ru-RU" b="1" dirty="0">
                <a:solidFill>
                  <a:schemeClr val="bg1"/>
                </a:solidFill>
              </a:rPr>
              <a:t>-контейнерах</a:t>
            </a:r>
            <a:r>
              <a:rPr lang="en-RU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Тема дипломного задания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3A96E2-9AE0-4B2B-C9DB-07A27F5E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50" y="1142148"/>
            <a:ext cx="7601581" cy="358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EF19-7CE0-50B8-0375-2CABE63F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7E5367A-3049-4F84-52A3-CC1313DD4F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достижения поставленной цели необходимо выполнить следующие задачи:</a:t>
            </a:r>
            <a:endParaRPr lang="en-RU" dirty="0"/>
          </a:p>
          <a:p>
            <a:r>
              <a:rPr lang="ru-RU" dirty="0"/>
              <a:t>1. Проанализировать требования к инфраструктуре и процессу развертывания приложения.</a:t>
            </a:r>
            <a:endParaRPr lang="en-RU" dirty="0"/>
          </a:p>
          <a:p>
            <a:r>
              <a:rPr lang="ru-RU" dirty="0"/>
              <a:t>2. Спроектировать архитектуру распределенной CI/CD-системы и определить роли компонентов.</a:t>
            </a:r>
            <a:endParaRPr lang="en-RU" dirty="0"/>
          </a:p>
          <a:p>
            <a:r>
              <a:rPr lang="ru-RU" dirty="0"/>
              <a:t>3. Реализовать контейнеризацию веб-приложения и базы данных.</a:t>
            </a:r>
            <a:endParaRPr lang="en-RU" dirty="0"/>
          </a:p>
          <a:p>
            <a:r>
              <a:rPr lang="ru-RU" dirty="0"/>
              <a:t>4. Настроить </a:t>
            </a:r>
            <a:r>
              <a:rPr lang="ru-RU" dirty="0" err="1"/>
              <a:t>GitLab</a:t>
            </a:r>
            <a:r>
              <a:rPr lang="ru-RU" dirty="0"/>
              <a:t> CI/CD-конвейер (сборка и доставка образов).</a:t>
            </a:r>
            <a:endParaRPr lang="en-RU" dirty="0"/>
          </a:p>
          <a:p>
            <a:r>
              <a:rPr lang="ru-RU" dirty="0"/>
              <a:t>5. Реализовать автоматизированное разворачивание приложения на сервер эксплуатации.</a:t>
            </a:r>
            <a:endParaRPr lang="en-RU" dirty="0"/>
          </a:p>
          <a:p>
            <a:r>
              <a:rPr lang="ru-RU" dirty="0"/>
              <a:t>6. Обеспечить сохранность данных базы данных при обновлениях приложения.</a:t>
            </a:r>
            <a:endParaRPr lang="en-RU" dirty="0"/>
          </a:p>
          <a:p>
            <a:r>
              <a:rPr lang="ru-RU" dirty="0"/>
              <a:t>7. Подготовить подтверждение работоспособности (логи и скриншоты) для включения в итоговую работу.</a:t>
            </a:r>
            <a:endParaRPr lang="en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6F2E109-E650-63B7-3AB6-1DC342AE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Цели дипломного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3712780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8FDD1F-C70D-F97D-4E1E-139DEFB5EF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AAC732-4F98-A66F-ABB2-A9BA5F2A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RU" dirty="0"/>
              <a:t>VM </a:t>
            </a:r>
            <a:r>
              <a:rPr lang="ru-RU" dirty="0"/>
              <a:t> задействованные в проекте</a:t>
            </a:r>
            <a:endParaRPr lang="en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06CA29-7472-BF20-5DCB-C2804DE00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563584"/>
              </p:ext>
            </p:extLst>
          </p:nvPr>
        </p:nvGraphicFramePr>
        <p:xfrm>
          <a:off x="544286" y="1143000"/>
          <a:ext cx="7445825" cy="36140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9165">
                  <a:extLst>
                    <a:ext uri="{9D8B030D-6E8A-4147-A177-3AD203B41FA5}">
                      <a16:colId xmlns:a16="http://schemas.microsoft.com/office/drawing/2014/main" val="1776562205"/>
                    </a:ext>
                  </a:extLst>
                </a:gridCol>
                <a:gridCol w="1489165">
                  <a:extLst>
                    <a:ext uri="{9D8B030D-6E8A-4147-A177-3AD203B41FA5}">
                      <a16:colId xmlns:a16="http://schemas.microsoft.com/office/drawing/2014/main" val="1759383569"/>
                    </a:ext>
                  </a:extLst>
                </a:gridCol>
                <a:gridCol w="1489165">
                  <a:extLst>
                    <a:ext uri="{9D8B030D-6E8A-4147-A177-3AD203B41FA5}">
                      <a16:colId xmlns:a16="http://schemas.microsoft.com/office/drawing/2014/main" val="3689203539"/>
                    </a:ext>
                  </a:extLst>
                </a:gridCol>
                <a:gridCol w="1489165">
                  <a:extLst>
                    <a:ext uri="{9D8B030D-6E8A-4147-A177-3AD203B41FA5}">
                      <a16:colId xmlns:a16="http://schemas.microsoft.com/office/drawing/2014/main" val="1099246018"/>
                    </a:ext>
                  </a:extLst>
                </a:gridCol>
                <a:gridCol w="1489165">
                  <a:extLst>
                    <a:ext uri="{9D8B030D-6E8A-4147-A177-3AD203B41FA5}">
                      <a16:colId xmlns:a16="http://schemas.microsoft.com/office/drawing/2014/main" val="1268528006"/>
                    </a:ext>
                  </a:extLst>
                </a:gridCol>
              </a:tblGrid>
              <a:tr h="3261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ВМ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ОС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Internal IPv4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Public IPv4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2954113"/>
                  </a:ext>
                </a:extLst>
              </a:tr>
              <a:tr h="672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VM1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GitLab Server (GitLab CE)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Ubuntu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10.130.0.5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158.160.205.10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749988"/>
                  </a:ext>
                </a:extLst>
              </a:tr>
              <a:tr h="802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VM2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GitLab Runner (Docker executor)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Ubuntu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10.130.0.9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158.160.180.232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037123"/>
                  </a:ext>
                </a:extLst>
              </a:tr>
              <a:tr h="1018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VM3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Private </a:t>
                      </a:r>
                      <a:r>
                        <a:rPr lang="ru-RU" sz="1100" dirty="0" err="1">
                          <a:effectLst/>
                        </a:rPr>
                        <a:t>Docker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Registry</a:t>
                      </a:r>
                      <a:r>
                        <a:rPr lang="ru-RU" sz="1100" dirty="0">
                          <a:effectLst/>
                        </a:rPr>
                        <a:t> (registry:2)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Ubuntu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10.130.0.7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158.160.222.82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1825344"/>
                  </a:ext>
                </a:extLst>
              </a:tr>
              <a:tr h="7936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VM4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Deploy Server (Docker Compose)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Ubuntu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10.130.0.27</a:t>
                      </a:r>
                      <a:endParaRPr lang="en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158.160.199.1</a:t>
                      </a:r>
                      <a:endParaRPr lang="en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824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63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E97F6-3544-7B62-13A2-A789EB96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99ADFA-3F85-27CC-9F7E-D8166B8CF8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1. Был </a:t>
            </a:r>
            <a:r>
              <a:rPr lang="en-RU" dirty="0"/>
              <a:t>выбран вариант развертывания GitLab на выделенном сервере Такой подход обеспечивает </a:t>
            </a:r>
            <a:r>
              <a:rPr lang="en-RU" b="1" dirty="0"/>
              <a:t>полный контроль над инфраструктурой и процессами CI/CD</a:t>
            </a:r>
            <a:r>
              <a:rPr lang="en-RU" dirty="0"/>
              <a:t>, включая конфигурацию пайплайнов, управление </a:t>
            </a:r>
            <a:r>
              <a:rPr lang="ru-RU" dirty="0"/>
              <a:t>конфигурацией сервера, независимость от внешних сервисов и дальнейшая простота миграции в другое окружение (облако) в случае необходимости.</a:t>
            </a:r>
          </a:p>
          <a:p>
            <a:endParaRPr lang="en-RU" dirty="0"/>
          </a:p>
          <a:p>
            <a:r>
              <a:rPr lang="ru-RU" dirty="0"/>
              <a:t>2. В качестве прикладного компонента разработано веб-приложение на базе фреймворка </a:t>
            </a:r>
            <a:r>
              <a:rPr lang="ru-RU" dirty="0" err="1"/>
              <a:t>Flask</a:t>
            </a:r>
            <a:r>
              <a:rPr lang="ru-RU" dirty="0"/>
              <a:t>. Приложение упаковано в </a:t>
            </a:r>
            <a:r>
              <a:rPr lang="ru-RU" dirty="0" err="1"/>
              <a:t>Docker</a:t>
            </a:r>
            <a:r>
              <a:rPr lang="ru-RU" dirty="0"/>
              <a:t>-образ на основе базового образа python:3.12-alpine</a:t>
            </a:r>
            <a:r>
              <a:rPr lang="en-RU" dirty="0"/>
              <a:t> </a:t>
            </a:r>
            <a:endParaRPr lang="ru-RU" dirty="0"/>
          </a:p>
          <a:p>
            <a:endParaRPr lang="ru-RU" dirty="0"/>
          </a:p>
          <a:p>
            <a:r>
              <a:rPr lang="ru-RU" dirty="0"/>
              <a:t>3. Для хранения данных используется СУБД MySQL, развернутая в отдельном контейнере. Для обеспечения сохранности данных при обновлениях приложения используется постоянный том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volume</a:t>
            </a:r>
            <a:r>
              <a:rPr lang="ru-RU" dirty="0"/>
              <a:t>, монтируемый в каталог 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mysql</a:t>
            </a:r>
            <a:r>
              <a:rPr lang="ru-RU" dirty="0"/>
              <a:t>.</a:t>
            </a:r>
            <a:endParaRPr lang="en-RU" dirty="0"/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A525D0-DF7B-F5A7-E12C-FA892C17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моменты дизайна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6873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8642-F312-B195-0A24-CC8187BD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F9F972-51D8-4899-EF7F-7A78B0EFCB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dirty="0"/>
              <a:t>4. Для централизованного хранения </a:t>
            </a:r>
            <a:r>
              <a:rPr lang="ru-RU" dirty="0" err="1"/>
              <a:t>Docker</a:t>
            </a:r>
            <a:r>
              <a:rPr lang="ru-RU" dirty="0"/>
              <a:t>-образов используется приватный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Registry</a:t>
            </a:r>
            <a:r>
              <a:rPr lang="ru-RU" dirty="0"/>
              <a:t> (registry:2)</a:t>
            </a:r>
          </a:p>
          <a:p>
            <a:endParaRPr lang="ru-RU" dirty="0"/>
          </a:p>
          <a:p>
            <a:r>
              <a:rPr lang="ru-RU" dirty="0"/>
              <a:t>5. В рамках CI/CD </a:t>
            </a:r>
            <a:r>
              <a:rPr lang="ru-RU" dirty="0" err="1"/>
              <a:t>GitLab</a:t>
            </a:r>
            <a:r>
              <a:rPr lang="ru-RU" dirty="0"/>
              <a:t> </a:t>
            </a:r>
            <a:r>
              <a:rPr lang="ru-RU" dirty="0" err="1"/>
              <a:t>Runner</a:t>
            </a:r>
            <a:r>
              <a:rPr lang="ru-RU" dirty="0"/>
              <a:t> выполняет аутентификацию в </a:t>
            </a:r>
            <a:r>
              <a:rPr lang="ru-RU" dirty="0" err="1"/>
              <a:t>registry</a:t>
            </a:r>
            <a:r>
              <a:rPr lang="ru-RU" dirty="0"/>
              <a:t> и публикует образы приложения с тегом, равным короткому хэшу коммита. Это обеспечивает </a:t>
            </a:r>
            <a:r>
              <a:rPr lang="ru-RU" dirty="0" err="1"/>
              <a:t>отслеживаемость</a:t>
            </a:r>
            <a:r>
              <a:rPr lang="ru-RU" dirty="0"/>
              <a:t> развертываний и возможность воспроизвести любую сборку по идентификатору коммита</a:t>
            </a:r>
            <a:r>
              <a:rPr lang="en-RU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EB6D99-E783-85F6-5718-92DC706D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моменты дизайна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662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E3A3-F33A-FB28-26FD-92BEA6FB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525CB6-9024-C895-2C23-6FBEB082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CI/CI </a:t>
            </a:r>
            <a:r>
              <a:rPr lang="ru-RU" dirty="0"/>
              <a:t>архитектура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A681B-E522-8F2A-FBBC-46C8374A9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58" y="992848"/>
            <a:ext cx="6407272" cy="384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5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FE8E-BC70-EC92-3D21-BED17B6B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BAD7A1-B04B-FD9A-6178-C16BF93D8F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dirty="0"/>
              <a:t>CI/CD-конвейер реализован средствами </a:t>
            </a:r>
            <a:r>
              <a:rPr lang="ru-RU" dirty="0" err="1"/>
              <a:t>GitLab</a:t>
            </a:r>
            <a:r>
              <a:rPr lang="ru-RU" dirty="0"/>
              <a:t> CI и описан в файле .</a:t>
            </a:r>
            <a:r>
              <a:rPr lang="ru-RU" dirty="0" err="1"/>
              <a:t>gitlab-ci.yml</a:t>
            </a:r>
            <a:endParaRPr lang="en-US" dirty="0"/>
          </a:p>
          <a:p>
            <a:r>
              <a:rPr lang="ru-RU" dirty="0"/>
              <a:t> </a:t>
            </a:r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7EFC0A-BFE1-6EA3-3BB9-1DFBEBAC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Дизайн проекта в </a:t>
            </a:r>
            <a:r>
              <a:rPr lang="en-US" dirty="0"/>
              <a:t>GitLab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10AAD-55AB-5A4A-B30F-FAB84FF68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28" y="1583974"/>
            <a:ext cx="5072743" cy="32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9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C44D-119B-6752-AE20-C8D3C2A0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73A6FD-3DC4-4409-6629-6B469F526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Конвейер включает две стадии: </a:t>
            </a:r>
            <a:r>
              <a:rPr lang="ru-RU" dirty="0" err="1"/>
              <a:t>build</a:t>
            </a:r>
            <a:r>
              <a:rPr lang="ru-RU" dirty="0"/>
              <a:t> и </a:t>
            </a:r>
            <a:r>
              <a:rPr lang="ru-RU" dirty="0" err="1"/>
              <a:t>de</a:t>
            </a:r>
            <a:r>
              <a:rPr lang="en-US" dirty="0"/>
              <a:t>ploy</a:t>
            </a:r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33D09C-C656-2749-8FF0-8615B3AB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Стадии работы дипломного </a:t>
            </a:r>
            <a:r>
              <a:rPr lang="ru-RU" dirty="0" err="1"/>
              <a:t>конвеера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AEC2A-3366-298B-C565-41FD12E6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785" y="1677811"/>
            <a:ext cx="6150429" cy="29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0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716E-5C92-917E-5253-930F337A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3CAD72-699E-E4E3-A778-4DA92278A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4862287" cy="329474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 сервере развертывания VM4 используется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 для управления </a:t>
            </a:r>
            <a:r>
              <a:rPr lang="ru-RU" dirty="0" err="1"/>
              <a:t>многоконтейнерным</a:t>
            </a:r>
            <a:r>
              <a:rPr lang="ru-RU" dirty="0"/>
              <a:t> приложением. В составе развертывания используются контейнеры: </a:t>
            </a:r>
            <a:r>
              <a:rPr lang="ru-RU" dirty="0" err="1"/>
              <a:t>Flask</a:t>
            </a:r>
            <a:r>
              <a:rPr lang="ru-RU" dirty="0"/>
              <a:t>-приложение, MySQL и NGINX (</a:t>
            </a:r>
            <a:r>
              <a:rPr lang="ru-RU" dirty="0" err="1"/>
              <a:t>reverse</a:t>
            </a:r>
            <a:r>
              <a:rPr lang="ru-RU" dirty="0"/>
              <a:t> </a:t>
            </a:r>
            <a:r>
              <a:rPr lang="ru-RU" dirty="0" err="1"/>
              <a:t>proxy</a:t>
            </a:r>
            <a:r>
              <a:rPr lang="ru-RU" dirty="0"/>
              <a:t>).</a:t>
            </a:r>
            <a:endParaRPr lang="en-RU" dirty="0"/>
          </a:p>
          <a:p>
            <a:r>
              <a:rPr lang="ru-RU" dirty="0"/>
              <a:t>NGINX принимает входящие HTTP-запросы на 80/TCP и </a:t>
            </a:r>
            <a:r>
              <a:rPr lang="ru-RU" dirty="0" err="1"/>
              <a:t>проксирует</a:t>
            </a:r>
            <a:r>
              <a:rPr lang="ru-RU" dirty="0"/>
              <a:t> их на сервис приложения по внутренней </a:t>
            </a:r>
            <a:r>
              <a:rPr lang="ru-RU" dirty="0" err="1"/>
              <a:t>docker</a:t>
            </a:r>
            <a:r>
              <a:rPr lang="ru-RU" dirty="0"/>
              <a:t>-сети (</a:t>
            </a:r>
            <a:r>
              <a:rPr lang="ru-RU" dirty="0" err="1"/>
              <a:t>proxy_pass</a:t>
            </a:r>
            <a:r>
              <a:rPr lang="ru-RU" dirty="0"/>
              <a:t> </a:t>
            </a:r>
            <a:r>
              <a:rPr lang="ru-RU" dirty="0" err="1"/>
              <a:t>http</a:t>
            </a:r>
            <a:r>
              <a:rPr lang="ru-RU" dirty="0"/>
              <a:t>://app:5000)..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Результатом успешного распространения приложения является новая запись в таблице распространения образов на основе </a:t>
            </a:r>
            <a:r>
              <a:rPr lang="en-US" dirty="0"/>
              <a:t>timestamp + </a:t>
            </a:r>
            <a:r>
              <a:rPr lang="ru-RU" dirty="0"/>
              <a:t>короткая часть </a:t>
            </a:r>
            <a:r>
              <a:rPr lang="en-US" dirty="0"/>
              <a:t>hash</a:t>
            </a:r>
            <a:r>
              <a:rPr lang="ru-RU" dirty="0"/>
              <a:t> имени образа</a:t>
            </a:r>
            <a:endParaRPr lang="en-RU" dirty="0"/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3EB22F-6548-57AE-A167-1F18DB9A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Признаки успешного завершения</a:t>
            </a:r>
            <a:endParaRPr lang="en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BFBF4D-088F-A146-D06B-81061DC8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35" y="1134835"/>
            <a:ext cx="2069193" cy="357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9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93DA-E637-8745-1C32-83C1DA80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7584F8-914B-3077-7773-BBC72C71F0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7355116" cy="3436256"/>
          </a:xfrm>
        </p:spPr>
        <p:txBody>
          <a:bodyPr>
            <a:normAutofit/>
          </a:bodyPr>
          <a:lstStyle/>
          <a:p>
            <a:r>
              <a:rPr lang="ru-RU" dirty="0"/>
              <a:t>В ходе выполнения выпускной квалификационной работы была разработана и реализована автоматизированная CI/CD-система для </a:t>
            </a:r>
            <a:r>
              <a:rPr lang="ru-RU" dirty="0" err="1"/>
              <a:t>контейнеризированного</a:t>
            </a:r>
            <a:r>
              <a:rPr lang="ru-RU" dirty="0"/>
              <a:t> веб-приложения. Поставленная цель достигнута: реализованы этапы сборки, публикации и развертывания приложения с использованием </a:t>
            </a:r>
            <a:r>
              <a:rPr lang="ru-RU" dirty="0" err="1"/>
              <a:t>Docker</a:t>
            </a:r>
            <a:r>
              <a:rPr lang="ru-RU" dirty="0"/>
              <a:t> и </a:t>
            </a:r>
            <a:r>
              <a:rPr lang="ru-RU" dirty="0" err="1"/>
              <a:t>GitLab</a:t>
            </a:r>
            <a:r>
              <a:rPr lang="ru-RU" dirty="0"/>
              <a:t> CI/CD.</a:t>
            </a:r>
            <a:endParaRPr lang="en-RU" dirty="0"/>
          </a:p>
          <a:p>
            <a:r>
              <a:rPr lang="ru-RU" dirty="0"/>
              <a:t>В работе реализована распределенная архитектура из четырех виртуальных машин: </a:t>
            </a:r>
            <a:r>
              <a:rPr lang="ru-RU" dirty="0" err="1"/>
              <a:t>GitLab</a:t>
            </a:r>
            <a:r>
              <a:rPr lang="ru-RU" dirty="0"/>
              <a:t> Server, </a:t>
            </a:r>
            <a:r>
              <a:rPr lang="ru-RU" dirty="0" err="1"/>
              <a:t>GitLab</a:t>
            </a:r>
            <a:r>
              <a:rPr lang="ru-RU" dirty="0"/>
              <a:t> </a:t>
            </a:r>
            <a:r>
              <a:rPr lang="ru-RU" dirty="0" err="1"/>
              <a:t>Runner</a:t>
            </a:r>
            <a:r>
              <a:rPr lang="ru-RU" dirty="0"/>
              <a:t>, приватный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Registry</a:t>
            </a:r>
            <a:r>
              <a:rPr lang="ru-RU" dirty="0"/>
              <a:t> и сервер развертывания. Применение тегирования образов по хэшу коммита обеспечивает </a:t>
            </a:r>
            <a:r>
              <a:rPr lang="ru-RU" dirty="0" err="1"/>
              <a:t>отслеживаемость</a:t>
            </a:r>
            <a:r>
              <a:rPr lang="ru-RU" dirty="0"/>
              <a:t> развертываний и возможность воспроизведения сборок.</a:t>
            </a:r>
            <a:endParaRPr lang="en-RU" dirty="0"/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66F1B1-ADF9-EC78-9905-D9A9F862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достигнута!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7653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916FE8-1B22-B5A3-722D-5F55B5D955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ru-RU" dirty="0"/>
              <a:t>Для дальнейшего развития проекта целесообразно внедрить резервное копирование данных</a:t>
            </a:r>
          </a:p>
          <a:p>
            <a:pPr marL="342900" indent="-342900">
              <a:buAutoNum type="arabicPeriod"/>
            </a:pPr>
            <a:r>
              <a:rPr lang="ru-RU" dirty="0"/>
              <a:t>Добавить автоматизированные тесты в </a:t>
            </a:r>
            <a:r>
              <a:rPr lang="ru-RU" dirty="0" err="1"/>
              <a:t>pipeline</a:t>
            </a:r>
            <a:r>
              <a:rPr lang="ru-RU" dirty="0"/>
              <a:t> </a:t>
            </a:r>
          </a:p>
          <a:p>
            <a:r>
              <a:rPr lang="ru-RU" dirty="0"/>
              <a:t>4.    Покрыть мониторингом</a:t>
            </a:r>
          </a:p>
          <a:p>
            <a:r>
              <a:rPr lang="ru-RU" dirty="0"/>
              <a:t>3.    Внедрить </a:t>
            </a:r>
            <a:r>
              <a:rPr lang="en-US" dirty="0"/>
              <a:t>Secrets </a:t>
            </a:r>
            <a:endParaRPr lang="ru-RU" dirty="0"/>
          </a:p>
          <a:p>
            <a:pPr marL="342900" indent="-342900">
              <a:buAutoNum type="arabicPeriod" startAt="4"/>
            </a:pPr>
            <a:r>
              <a:rPr lang="ru-RU" dirty="0"/>
              <a:t>Доработать  весь деплой на  улавливание успешности распространения    </a:t>
            </a:r>
          </a:p>
          <a:p>
            <a:r>
              <a:rPr lang="ru-RU" dirty="0"/>
              <a:t>       нового образа (</a:t>
            </a:r>
            <a:r>
              <a:rPr lang="en-US" dirty="0" err="1"/>
              <a:t>healtcheck</a:t>
            </a:r>
            <a:r>
              <a:rPr lang="en-US" dirty="0"/>
              <a:t> </a:t>
            </a:r>
            <a:r>
              <a:rPr lang="ru-RU" dirty="0"/>
              <a:t>через</a:t>
            </a:r>
            <a:r>
              <a:rPr lang="en-US" dirty="0"/>
              <a:t> curl </a:t>
            </a:r>
            <a:r>
              <a:rPr lang="ru-RU" dirty="0"/>
              <a:t>и другие маркеры)</a:t>
            </a:r>
          </a:p>
          <a:p>
            <a:pPr marL="342900" indent="-342900">
              <a:buAutoNum type="arabicPeriod" startAt="5"/>
            </a:pPr>
            <a:r>
              <a:rPr lang="ru-RU" dirty="0"/>
              <a:t>Добавить отказоустойчивость и масштабируемость (</a:t>
            </a:r>
            <a:r>
              <a:rPr lang="en-US" dirty="0"/>
              <a:t>Kubernetes)</a:t>
            </a:r>
            <a:endParaRPr lang="ru-RU" dirty="0"/>
          </a:p>
          <a:p>
            <a:endParaRPr lang="ru-RU" dirty="0"/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F59E55-E944-6899-FA4A-A2EC66E7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Рекомендации по дальнейшему дизайну проекта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135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409225" y="4468762"/>
            <a:ext cx="2385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Михаил Бурмистров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SCHLAF2003@MAIL.RU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6377</TotalTime>
  <Words>636</Words>
  <Application>Microsoft Macintosh PowerPoint</Application>
  <PresentationFormat>On-screen Show (16:9)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ИТОГОВАЯ КВАЛИФИКАЦИОННАЯ РАБОТА</vt:lpstr>
      <vt:lpstr>Тема дипломного задания</vt:lpstr>
      <vt:lpstr>Цели дипломного задания</vt:lpstr>
      <vt:lpstr>VM  задействованные в проекте</vt:lpstr>
      <vt:lpstr>Ключевые моменты дизайна</vt:lpstr>
      <vt:lpstr>Ключевые моменты дизайна</vt:lpstr>
      <vt:lpstr>CI/CI архитектура</vt:lpstr>
      <vt:lpstr>Дизайн проекта в GitLab</vt:lpstr>
      <vt:lpstr>Стадии работы дипломного конвеера</vt:lpstr>
      <vt:lpstr>Признаки успешного завершения</vt:lpstr>
      <vt:lpstr>Цель достигнута!</vt:lpstr>
      <vt:lpstr>Рекомендации по дальнейшему дизайну проекта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Mikhail Burmistrov</cp:lastModifiedBy>
  <cp:revision>118</cp:revision>
  <dcterms:created xsi:type="dcterms:W3CDTF">2014-06-27T12:30:22Z</dcterms:created>
  <dcterms:modified xsi:type="dcterms:W3CDTF">2026-01-23T18:12:08Z</dcterms:modified>
</cp:coreProperties>
</file>